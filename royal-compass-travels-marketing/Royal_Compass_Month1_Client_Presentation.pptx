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plan as a first-month foundation and testing plan. Keep it short: we'll walk through what we'll do, how we'll measure it, and what it costs.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month is about foundations and learning, not scale. Two outcomes: visibility (website + Instagram) and an enquiry system (ads + lead area).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SEO: making the site readable and relevant for Google. GEO: making information clear for AI-based search tools like ChatGPT or Google's AI answers. AEO: answering real customer questions directly. They overlap — the same clean pages help all three. Search visibility builds over time; Month 1 sets the foundation.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posts plus 10 reels in the month, all travel-focused. Content plan shared in advance for approval. Real trip photos and videos from your side make the content more credible. Growth on Instagram is gradual; we'll track which content people save, share and message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creatives are made and tested; the best three continue and are optimised. The ₹10,000 is spent from your own ad account, so you can see every rupee. We need from you: Meta Business access, priority destinations/packages, any offers, and quick approval of creatives. We don't predict a lead count before the test — the test tells us the real cost per enquiry.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Enquiries go to your own protected admin area — not to us. You set and keep the password. Your team handles follow-up, quotations and bookings; quick replies make a real difference. Legal pages are drafted from your actual policies for your review. This is fixes and setup, not a website redesign.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Instagram posting starts as soon as the content plan is approved. Week 1 depends on receiving access; any delay shifts the later steps. Ads may need a day or so for Meta's review. If the ad budget isn't fully used by day 30, the test can run a few extra days to finish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short mid-month update and a month-end report: work completed, real numbers from Google Search Console, Instagram and Meta, what worked, what didn't, and our recommendation. Please share feedback on lead quality — it's what lets us improve targeting.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ad budget never passes through us — you add your own payment method in Meta Ads Manager and can see all spend there. Payment terms for the service fee will be confirmed in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goal: foundation, test, initial enquiries, then a data-based decision together. Invite questions. After the call, send a written summary and the access/information checklist within 24 hours.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502920"/>
            <a:ext cx="4480560" cy="44805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234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COMPASS TRAVELS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4592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 1 Digital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Plan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246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7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search · Instagram · Meta Ads · Lead system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343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royalcompasstravels.com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-1097280"/>
            <a:ext cx="4754880" cy="47548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2179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Month 1 is for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stronger online visibility and establish an initial lead-generation system.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2880360"/>
            <a:ext cx="548640" cy="548640"/>
          </a:xfrm>
          <a:prstGeom prst="ellipse">
            <a:avLst/>
          </a:prstGeom>
          <a:solidFill>
            <a:srgbClr val="E3F0EE"/>
          </a:solidFill>
          <a:ln w="12700">
            <a:solidFill>
              <a:srgbClr val="E3F0E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3026664"/>
            <a:ext cx="256032" cy="25603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28986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280160" y="31729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clearer, better-structured website and a consistent Instagram presence.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3749040"/>
            <a:ext cx="548640" cy="548640"/>
          </a:xfrm>
          <a:prstGeom prst="ellipse">
            <a:avLst/>
          </a:prstGeom>
          <a:solidFill>
            <a:srgbClr val="E3F0EE"/>
          </a:solidFill>
          <a:ln w="12700">
            <a:solidFill>
              <a:srgbClr val="E3F0EE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895344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80160" y="37673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Enquiries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280160" y="40416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tested ad setup and a simple system that sends every website enquiry to your team.</a:t>
            </a:r>
            <a:endParaRPr lang="en-US" sz="125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47731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Compass Travels  ·  Month 1 Plan</a:t>
            </a:r>
            <a:endParaRPr lang="en-US" sz="850" dirty="0"/>
          </a:p>
        </p:txBody>
      </p:sp>
      <p:sp>
        <p:nvSpPr>
          <p:cNvPr id="15" name="Text 10"/>
          <p:cNvSpPr txBox="1"/>
          <p:nvPr/>
        </p:nvSpPr>
        <p:spPr>
          <a:xfrm>
            <a:off x="8138160" y="47731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SEARCH OPTIMIZATION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Helping customers find and understand you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1907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311" y="1872143"/>
            <a:ext cx="260787" cy="26078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81328" y="1737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SEO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481328" y="204825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560320"/>
            <a:ext cx="2103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titles &amp; descriptions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headings and structure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travel keywords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 Console setup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1840" y="146304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20440" y="1719072"/>
            <a:ext cx="566928" cy="566928"/>
          </a:xfrm>
          <a:prstGeom prst="ellipse">
            <a:avLst/>
          </a:prstGeom>
          <a:solidFill>
            <a:srgbClr val="0E6E68"/>
          </a:solidFill>
          <a:ln w="12700">
            <a:solidFill>
              <a:srgbClr val="0E6E6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511" y="1872143"/>
            <a:ext cx="260787" cy="26078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224528" y="1737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4224528" y="204825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search tools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3520440" y="2560320"/>
            <a:ext cx="2103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business information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&amp; destinations explained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details across pages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easy-to-read content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035040" y="146304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63640" y="1719072"/>
            <a:ext cx="566928" cy="56692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711" y="1872143"/>
            <a:ext cx="260787" cy="26078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967728" y="1737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AEO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6967728" y="204825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questions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6263640" y="2560320"/>
            <a:ext cx="2103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traveller questions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direct answers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 FAQ sections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informational pages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47731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Compass Travels  ·  Month 1 Plan</a:t>
            </a:r>
            <a:endParaRPr lang="en-US" sz="850" dirty="0"/>
          </a:p>
        </p:txBody>
      </p:sp>
      <p:sp>
        <p:nvSpPr>
          <p:cNvPr id="23" name="Text 18"/>
          <p:cNvSpPr txBox="1"/>
          <p:nvPr/>
        </p:nvSpPr>
        <p:spPr>
          <a:xfrm>
            <a:off x="8138160" y="47731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consistent, travel-focused presence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every day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5087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2331720" y="2377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per month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15087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0E6E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3774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 per month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themes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401568"/>
            <a:ext cx="1946758" cy="329184"/>
          </a:xfrm>
          <a:prstGeom prst="roundRect">
            <a:avLst>
              <a:gd name="adj" fmla="val 50000"/>
            </a:avLst>
          </a:prstGeom>
          <a:solidFill>
            <a:srgbClr val="E3F0EE"/>
          </a:solidFill>
          <a:ln w="12700">
            <a:solidFill>
              <a:srgbClr val="E3F0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401568"/>
            <a:ext cx="19467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inspiration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05126" y="3401568"/>
            <a:ext cx="1036015" cy="329184"/>
          </a:xfrm>
          <a:prstGeom prst="roundRect">
            <a:avLst>
              <a:gd name="adj" fmla="val 50000"/>
            </a:avLst>
          </a:prstGeom>
          <a:solidFill>
            <a:srgbClr val="E3F0EE"/>
          </a:solidFill>
          <a:ln w="12700">
            <a:solidFill>
              <a:srgbClr val="E3F0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05126" y="3401568"/>
            <a:ext cx="1036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tips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50869" y="3401568"/>
            <a:ext cx="1567282" cy="329184"/>
          </a:xfrm>
          <a:prstGeom prst="roundRect">
            <a:avLst>
              <a:gd name="adj" fmla="val 50000"/>
            </a:avLst>
          </a:prstGeom>
          <a:solidFill>
            <a:srgbClr val="E3F0EE"/>
          </a:solidFill>
          <a:ln w="12700">
            <a:solidFill>
              <a:srgbClr val="E3F0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50869" y="3401568"/>
            <a:ext cx="15672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information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840480"/>
            <a:ext cx="1111910" cy="329184"/>
          </a:xfrm>
          <a:prstGeom prst="roundRect">
            <a:avLst>
              <a:gd name="adj" fmla="val 50000"/>
            </a:avLst>
          </a:prstGeom>
          <a:solidFill>
            <a:srgbClr val="E3F0EE"/>
          </a:solidFill>
          <a:ln w="12700">
            <a:solidFill>
              <a:srgbClr val="E3F0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840480"/>
            <a:ext cx="11119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services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770278" y="3840480"/>
            <a:ext cx="1491386" cy="329184"/>
          </a:xfrm>
          <a:prstGeom prst="roundRect">
            <a:avLst>
              <a:gd name="adj" fmla="val 50000"/>
            </a:avLst>
          </a:prstGeom>
          <a:solidFill>
            <a:srgbClr val="E3F0EE"/>
          </a:solidFill>
          <a:ln w="12700">
            <a:solidFill>
              <a:srgbClr val="E3F0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770278" y="3840480"/>
            <a:ext cx="149138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&amp; offers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71393" y="3840480"/>
            <a:ext cx="504749" cy="329184"/>
          </a:xfrm>
          <a:prstGeom prst="roundRect">
            <a:avLst>
              <a:gd name="adj" fmla="val 50000"/>
            </a:avLst>
          </a:prstGeom>
          <a:solidFill>
            <a:srgbClr val="E3F0EE"/>
          </a:solidFill>
          <a:ln w="12700">
            <a:solidFill>
              <a:srgbClr val="E3F0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371393" y="3840480"/>
            <a:ext cx="5047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985870" y="3840480"/>
            <a:ext cx="1263701" cy="329184"/>
          </a:xfrm>
          <a:prstGeom prst="roundRect">
            <a:avLst>
              <a:gd name="adj" fmla="val 50000"/>
            </a:avLst>
          </a:prstGeom>
          <a:solidFill>
            <a:srgbClr val="E3F0EE"/>
          </a:solidFill>
          <a:ln w="12700">
            <a:solidFill>
              <a:srgbClr val="E3F0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985870" y="3840480"/>
            <a:ext cx="12637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Trust-building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1463040"/>
            <a:ext cx="2423160" cy="3063240"/>
          </a:xfrm>
          <a:prstGeom prst="roundRect">
            <a:avLst>
              <a:gd name="adj" fmla="val 3019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16916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9672" y="1810512"/>
            <a:ext cx="265176" cy="265176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6400800" y="2331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supports the plan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0" y="269748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5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trust when people check your profile after seeing an ad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5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which topics your audience responds to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5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us material to reuse in ads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47731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Compass Travels  ·  Month 1 Plan</a:t>
            </a:r>
            <a:endParaRPr lang="en-US" sz="850" dirty="0"/>
          </a:p>
        </p:txBody>
      </p:sp>
      <p:sp>
        <p:nvSpPr>
          <p:cNvPr id="31" name="Text 28"/>
          <p:cNvSpPr txBox="1"/>
          <p:nvPr/>
        </p:nvSpPr>
        <p:spPr>
          <a:xfrm>
            <a:off x="8138160" y="47731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focused test on Facebook &amp; Instagram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916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219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creatives developed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14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images, messages and angles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20574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0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606040" y="150876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88920" y="16916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22219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2514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spend spread evenly to compare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20574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0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663440" y="150876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16916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2219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running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514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5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 ads paused based on results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20574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0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720840" y="150876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03720" y="16916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Optimise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22219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the month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2514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and budget refined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383280"/>
            <a:ext cx="8046720" cy="1143000"/>
          </a:xfrm>
          <a:prstGeom prst="roundRect">
            <a:avLst>
              <a:gd name="adj" fmla="val 6400"/>
            </a:avLst>
          </a:prstGeom>
          <a:solidFill>
            <a:srgbClr val="E3F0EE"/>
          </a:solidFill>
          <a:ln w="12700">
            <a:solidFill>
              <a:srgbClr val="E3F0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354787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6E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₹10,000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40507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budget, paid by you directly to Meta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3383280" y="356616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relevant enquiries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judge ads by the quality and cost of enquiries — not likes or cheap clicks. Month 1 is a testing budget to learn what works for your audience before any decision to spend more.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7731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Compass Travels  ·  Month 1 Plan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8138160" y="47731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&amp; LEAD SYSTEM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website enquiry, straight to your team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15568" y="1463040"/>
            <a:ext cx="658368" cy="65836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327" y="1640799"/>
            <a:ext cx="302849" cy="30284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24028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51460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you via search,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or ads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920240" y="1792224"/>
            <a:ext cx="1005840" cy="0"/>
          </a:xfrm>
          <a:prstGeom prst="line">
            <a:avLst/>
          </a:prstGeom>
          <a:noFill/>
          <a:ln w="15875">
            <a:solidFill>
              <a:srgbClr val="B08A3E"/>
            </a:solidFill>
            <a:prstDash val="dash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218688" y="1463040"/>
            <a:ext cx="658368" cy="65836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6447" y="1640799"/>
            <a:ext cx="302849" cy="30284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651760" y="224028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 form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2651760" y="251460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phone,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destination, dates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023360" y="1792224"/>
            <a:ext cx="1005840" cy="0"/>
          </a:xfrm>
          <a:prstGeom prst="line">
            <a:avLst/>
          </a:prstGeom>
          <a:noFill/>
          <a:ln w="15875">
            <a:solidFill>
              <a:srgbClr val="B08A3E"/>
            </a:solidFill>
            <a:prstDash val="dash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5321808" y="1463040"/>
            <a:ext cx="658368" cy="658368"/>
          </a:xfrm>
          <a:prstGeom prst="ellipse">
            <a:avLst/>
          </a:prstGeom>
          <a:solidFill>
            <a:srgbClr val="0E6E68"/>
          </a:solidFill>
          <a:ln w="12700">
            <a:solidFill>
              <a:srgbClr val="0E6E6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9567" y="1640799"/>
            <a:ext cx="302849" cy="30284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754880" y="224028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admin area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754880" y="251460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Protected; only you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password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126480" y="1792224"/>
            <a:ext cx="1005840" cy="0"/>
          </a:xfrm>
          <a:prstGeom prst="line">
            <a:avLst/>
          </a:prstGeom>
          <a:noFill/>
          <a:ln w="15875">
            <a:solidFill>
              <a:srgbClr val="B08A3E"/>
            </a:solidFill>
            <a:prstDash val="dash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7424928" y="1463040"/>
            <a:ext cx="658368" cy="65836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2687" y="1640799"/>
            <a:ext cx="302849" cy="302849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858000" y="224028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0" y="251460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Calls, WhatsApp,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&amp; bookings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48640" y="3246120"/>
            <a:ext cx="1874520" cy="1280160"/>
          </a:xfrm>
          <a:prstGeom prst="roundRect">
            <a:avLst>
              <a:gd name="adj" fmla="val 5714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429000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31520" y="37764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pages</a:t>
            </a:r>
            <a:endParaRPr lang="en-US" sz="1250" dirty="0"/>
          </a:p>
        </p:txBody>
      </p:sp>
      <p:sp>
        <p:nvSpPr>
          <p:cNvPr id="26" name="Text 19"/>
          <p:cNvSpPr txBox="1"/>
          <p:nvPr/>
        </p:nvSpPr>
        <p:spPr>
          <a:xfrm>
            <a:off x="731520" y="403250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Privacy, terms, cancellation &amp; refund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2606040" y="3246120"/>
            <a:ext cx="1874520" cy="1280160"/>
          </a:xfrm>
          <a:prstGeom prst="roundRect">
            <a:avLst>
              <a:gd name="adj" fmla="val 5714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8920" y="3429000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2788920" y="37764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Console</a:t>
            </a:r>
            <a:endParaRPr lang="en-US" sz="1250" dirty="0"/>
          </a:p>
        </p:txBody>
      </p:sp>
      <p:sp>
        <p:nvSpPr>
          <p:cNvPr id="30" name="Text 22"/>
          <p:cNvSpPr txBox="1"/>
          <p:nvPr/>
        </p:nvSpPr>
        <p:spPr>
          <a:xfrm>
            <a:off x="2788920" y="403250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&amp; verified with Google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4663440" y="3246120"/>
            <a:ext cx="1874520" cy="1280160"/>
          </a:xfrm>
          <a:prstGeom prst="roundRect">
            <a:avLst>
              <a:gd name="adj" fmla="val 5714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3429000"/>
            <a:ext cx="274320" cy="27432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4846320" y="37764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fixes</a:t>
            </a:r>
            <a:endParaRPr lang="en-US" sz="1250" dirty="0"/>
          </a:p>
        </p:txBody>
      </p:sp>
      <p:sp>
        <p:nvSpPr>
          <p:cNvPr id="34" name="Text 25"/>
          <p:cNvSpPr txBox="1"/>
          <p:nvPr/>
        </p:nvSpPr>
        <p:spPr>
          <a:xfrm>
            <a:off x="4846320" y="403250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affecting experience or enquiries</a:t>
            </a:r>
            <a:endParaRPr lang="en-US" sz="1050" dirty="0"/>
          </a:p>
        </p:txBody>
      </p:sp>
      <p:sp>
        <p:nvSpPr>
          <p:cNvPr id="35" name="Shape 26"/>
          <p:cNvSpPr/>
          <p:nvPr/>
        </p:nvSpPr>
        <p:spPr>
          <a:xfrm>
            <a:off x="6720840" y="3246120"/>
            <a:ext cx="1874520" cy="1280160"/>
          </a:xfrm>
          <a:prstGeom prst="roundRect">
            <a:avLst>
              <a:gd name="adj" fmla="val 5714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3720" y="3429000"/>
            <a:ext cx="274320" cy="274320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6903720" y="377647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Client-controlled</a:t>
            </a:r>
            <a:endParaRPr lang="en-US" sz="1250" dirty="0"/>
          </a:p>
        </p:txBody>
      </p:sp>
      <p:sp>
        <p:nvSpPr>
          <p:cNvPr id="38" name="Text 28"/>
          <p:cNvSpPr txBox="1"/>
          <p:nvPr/>
        </p:nvSpPr>
        <p:spPr>
          <a:xfrm>
            <a:off x="6903720" y="403250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the admin login and leads</a:t>
            </a:r>
            <a:endParaRPr lang="en-US" sz="1050" dirty="0"/>
          </a:p>
        </p:txBody>
      </p:sp>
      <p:sp>
        <p:nvSpPr>
          <p:cNvPr id="39" name="Text 29"/>
          <p:cNvSpPr txBox="1"/>
          <p:nvPr/>
        </p:nvSpPr>
        <p:spPr>
          <a:xfrm>
            <a:off x="548640" y="47731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Compass Travels  ·  Month 1 Plan</a:t>
            </a:r>
            <a:endParaRPr lang="en-US" sz="850" dirty="0"/>
          </a:p>
        </p:txBody>
      </p:sp>
      <p:sp>
        <p:nvSpPr>
          <p:cNvPr id="40" name="Text 30"/>
          <p:cNvSpPr txBox="1"/>
          <p:nvPr/>
        </p:nvSpPr>
        <p:spPr>
          <a:xfrm>
            <a:off x="8138160" y="47731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EXECUTION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weeks, step by step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627632"/>
            <a:ext cx="7589520" cy="0"/>
          </a:xfrm>
          <a:prstGeom prst="line">
            <a:avLst/>
          </a:prstGeom>
          <a:noFill/>
          <a:ln w="19050">
            <a:solidFill>
              <a:srgbClr val="DD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08760"/>
            <a:ext cx="237744" cy="237744"/>
          </a:xfrm>
          <a:prstGeom prst="ellipse">
            <a:avLst/>
          </a:prstGeom>
          <a:solidFill>
            <a:srgbClr val="1632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up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560320"/>
            <a:ext cx="1874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audit</a:t>
            </a:r>
            <a:endParaRPr lang="en-US" sz="11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&amp; setup</a:t>
            </a:r>
            <a:endParaRPr lang="en-US" sz="11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Console</a:t>
            </a:r>
            <a:endParaRPr lang="en-US" sz="11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ad planning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15768" y="1508760"/>
            <a:ext cx="237744" cy="237744"/>
          </a:xfrm>
          <a:prstGeom prst="ellipse">
            <a:avLst/>
          </a:prstGeom>
          <a:solidFill>
            <a:srgbClr val="1632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06040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2560320"/>
            <a:ext cx="1874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improvements</a:t>
            </a:r>
            <a:endParaRPr lang="en-US" sz="11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fixes &amp; legal pages</a:t>
            </a:r>
            <a:endParaRPr lang="en-US" sz="11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lead area</a:t>
            </a:r>
            <a:endParaRPr lang="en-US" sz="11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creatives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73168" y="1508760"/>
            <a:ext cx="237744" cy="237744"/>
          </a:xfrm>
          <a:prstGeom prst="ellipse">
            <a:avLst/>
          </a:prstGeom>
          <a:solidFill>
            <a:srgbClr val="1632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63440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2560320"/>
            <a:ext cx="1874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test goes live</a:t>
            </a:r>
            <a:endParaRPr lang="en-US" sz="11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continues</a:t>
            </a:r>
            <a:endParaRPr lang="en-US" sz="11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early results</a:t>
            </a:r>
            <a:endParaRPr lang="en-US" sz="11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30568" y="1508760"/>
            <a:ext cx="237744" cy="237744"/>
          </a:xfrm>
          <a:prstGeom prst="ellipse">
            <a:avLst/>
          </a:prstGeom>
          <a:solidFill>
            <a:srgbClr val="0E6E6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20840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2560320"/>
            <a:ext cx="1874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best-performing ads</a:t>
            </a:r>
            <a:endParaRPr lang="en-US" sz="11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continues</a:t>
            </a:r>
            <a:endParaRPr lang="en-US" sz="11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numbers</a:t>
            </a:r>
            <a:endParaRPr lang="en-US" sz="1150" dirty="0"/>
          </a:p>
          <a:p>
            <a:pPr marL="139700" indent="-1397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report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023360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0233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keep this on schedule, we'll need from you: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access, package and destination details, photos/videos, and timely approvals.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7731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Compass Travels  ·  Month 1 Plan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8138160" y="47731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MEASURE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numbers, reported at month-end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E3F0EE"/>
          </a:solidFill>
          <a:ln w="12700">
            <a:solidFill>
              <a:srgbClr val="E3F0E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819656"/>
            <a:ext cx="246888" cy="2468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7647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</a:t>
            </a:r>
            <a:endParaRPr lang="en-US" sz="17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78024"/>
            <a:ext cx="146304" cy="14630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24231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impressions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825496"/>
            <a:ext cx="146304" cy="14630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97280" y="27706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from Google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172968"/>
            <a:ext cx="146304" cy="14630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097280" y="311810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queries</a:t>
            </a:r>
            <a:endParaRPr lang="en-US" sz="1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520440"/>
            <a:ext cx="146304" cy="146304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097280" y="346557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Top-performing pages</a:t>
            </a:r>
            <a:endParaRPr lang="en-US" sz="1200" dirty="0"/>
          </a:p>
        </p:txBody>
      </p:sp>
      <p:sp>
        <p:nvSpPr>
          <p:cNvPr id="16" name="Shape 9"/>
          <p:cNvSpPr/>
          <p:nvPr/>
        </p:nvSpPr>
        <p:spPr>
          <a:xfrm>
            <a:off x="3291840" y="146304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7" name="Shape 10"/>
          <p:cNvSpPr/>
          <p:nvPr/>
        </p:nvSpPr>
        <p:spPr>
          <a:xfrm>
            <a:off x="3520440" y="1691640"/>
            <a:ext cx="502920" cy="502920"/>
          </a:xfrm>
          <a:prstGeom prst="ellipse">
            <a:avLst/>
          </a:prstGeom>
          <a:solidFill>
            <a:srgbClr val="E3F0EE"/>
          </a:solidFill>
          <a:ln w="12700">
            <a:solidFill>
              <a:srgbClr val="E3F0EE"/>
            </a:solidFill>
            <a:prstDash val="solid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8456" y="1819656"/>
            <a:ext cx="246888" cy="246888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4160520" y="17647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</a:t>
            </a:r>
            <a:endParaRPr lang="en-US" sz="17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0" y="2478024"/>
            <a:ext cx="146304" cy="146304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3840480" y="24231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12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66160" y="2825496"/>
            <a:ext cx="146304" cy="146304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3840480" y="27706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2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66160" y="3172968"/>
            <a:ext cx="146304" cy="146304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3840480" y="311810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visits</a:t>
            </a:r>
            <a:endParaRPr lang="en-US" sz="120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66160" y="3520440"/>
            <a:ext cx="146304" cy="146304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3840480" y="346557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performance</a:t>
            </a:r>
            <a:endParaRPr lang="en-US" sz="1200" dirty="0"/>
          </a:p>
        </p:txBody>
      </p:sp>
      <p:sp>
        <p:nvSpPr>
          <p:cNvPr id="28" name="Shape 16"/>
          <p:cNvSpPr/>
          <p:nvPr/>
        </p:nvSpPr>
        <p:spPr>
          <a:xfrm>
            <a:off x="6035040" y="1463040"/>
            <a:ext cx="25146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9" name="Shape 17"/>
          <p:cNvSpPr/>
          <p:nvPr/>
        </p:nvSpPr>
        <p:spPr>
          <a:xfrm>
            <a:off x="6263640" y="1691640"/>
            <a:ext cx="502920" cy="502920"/>
          </a:xfrm>
          <a:prstGeom prst="ellipse">
            <a:avLst/>
          </a:prstGeom>
          <a:solidFill>
            <a:srgbClr val="E3F0EE"/>
          </a:solidFill>
          <a:ln w="12700">
            <a:solidFill>
              <a:srgbClr val="E3F0EE"/>
            </a:solidFill>
            <a:prstDash val="solid"/>
          </a:ln>
        </p:spPr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91656" y="1819656"/>
            <a:ext cx="246888" cy="246888"/>
          </a:xfrm>
          <a:prstGeom prst="rect">
            <a:avLst/>
          </a:prstGeom>
        </p:spPr>
      </p:pic>
      <p:sp>
        <p:nvSpPr>
          <p:cNvPr id="31" name="Text 18"/>
          <p:cNvSpPr txBox="1"/>
          <p:nvPr/>
        </p:nvSpPr>
        <p:spPr>
          <a:xfrm>
            <a:off x="6903720" y="17647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 Ads</a:t>
            </a:r>
            <a:endParaRPr lang="en-US" sz="1700" dirty="0"/>
          </a:p>
        </p:txBody>
      </p:sp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09360" y="2478024"/>
            <a:ext cx="146304" cy="146304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6583680" y="24231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1200" dirty="0"/>
          </a:p>
        </p:txBody>
      </p:sp>
      <p:pic>
        <p:nvPicPr>
          <p:cNvPr id="3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09360" y="2825496"/>
            <a:ext cx="146304" cy="146304"/>
          </a:xfrm>
          <a:prstGeom prst="rect">
            <a:avLst/>
          </a:prstGeom>
        </p:spPr>
      </p:pic>
      <p:sp>
        <p:nvSpPr>
          <p:cNvPr id="35" name="Text 20"/>
          <p:cNvSpPr txBox="1"/>
          <p:nvPr/>
        </p:nvSpPr>
        <p:spPr>
          <a:xfrm>
            <a:off x="6583680" y="27706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 &amp; reach</a:t>
            </a:r>
            <a:endParaRPr lang="en-US" sz="1200" dirty="0"/>
          </a:p>
        </p:txBody>
      </p:sp>
      <p:pic>
        <p:nvPicPr>
          <p:cNvPr id="3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09360" y="3172968"/>
            <a:ext cx="146304" cy="146304"/>
          </a:xfrm>
          <a:prstGeom prst="rect">
            <a:avLst/>
          </a:prstGeom>
        </p:spPr>
      </p:pic>
      <p:sp>
        <p:nvSpPr>
          <p:cNvPr id="37" name="Text 21"/>
          <p:cNvSpPr txBox="1"/>
          <p:nvPr/>
        </p:nvSpPr>
        <p:spPr>
          <a:xfrm>
            <a:off x="6583680" y="311810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&amp; CPC</a:t>
            </a:r>
            <a:endParaRPr lang="en-US" sz="1200" dirty="0"/>
          </a:p>
        </p:txBody>
      </p:sp>
      <p:pic>
        <p:nvPicPr>
          <p:cNvPr id="3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09360" y="3520440"/>
            <a:ext cx="146304" cy="146304"/>
          </a:xfrm>
          <a:prstGeom prst="rect">
            <a:avLst/>
          </a:prstGeom>
        </p:spPr>
      </p:pic>
      <p:sp>
        <p:nvSpPr>
          <p:cNvPr id="39" name="Text 22"/>
          <p:cNvSpPr txBox="1"/>
          <p:nvPr/>
        </p:nvSpPr>
        <p:spPr>
          <a:xfrm>
            <a:off x="6583680" y="346557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&amp; cost per lead</a:t>
            </a:r>
            <a:endParaRPr lang="en-US" sz="1200" dirty="0"/>
          </a:p>
        </p:txBody>
      </p:sp>
      <p:sp>
        <p:nvSpPr>
          <p:cNvPr id="40" name="Text 23"/>
          <p:cNvSpPr txBox="1"/>
          <p:nvPr/>
        </p:nvSpPr>
        <p:spPr>
          <a:xfrm>
            <a:off x="548640" y="413308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matters most: </a:t>
            </a:r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enquiries and what each one costs. Reach and impressions are shown for context.</a:t>
            </a:r>
            <a:endParaRPr lang="en-US" sz="1200" dirty="0"/>
          </a:p>
        </p:txBody>
      </p:sp>
      <p:sp>
        <p:nvSpPr>
          <p:cNvPr id="41" name="Text 24"/>
          <p:cNvSpPr txBox="1"/>
          <p:nvPr/>
        </p:nvSpPr>
        <p:spPr>
          <a:xfrm>
            <a:off x="548640" y="47731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Compass Travels  ·  Month 1 Plan</a:t>
            </a:r>
            <a:endParaRPr lang="en-US" sz="850" dirty="0"/>
          </a:p>
        </p:txBody>
      </p:sp>
      <p:sp>
        <p:nvSpPr>
          <p:cNvPr id="42" name="Text 25"/>
          <p:cNvSpPr txBox="1"/>
          <p:nvPr/>
        </p:nvSpPr>
        <p:spPr>
          <a:xfrm>
            <a:off x="8138160" y="47731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 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SERVICE FEE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₹20,000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SEO, GEO &amp; AEO · Instagram · Ad creatives &amp; management · Website fixes &amp; lead system · Reporting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4630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F2F5F7"/>
          </a:solidFill>
          <a:ln w="12700">
            <a:solidFill>
              <a:srgbClr val="F2F5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16916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BUDGET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1965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E6E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₹10,000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6974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by you directly to Meta from your own ad account. Not included in our fee.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154680" y="23317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0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72200" y="1463040"/>
            <a:ext cx="2423160" cy="2103120"/>
          </a:xfrm>
          <a:prstGeom prst="roundRect">
            <a:avLst>
              <a:gd name="adj" fmla="val 3478"/>
            </a:avLst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1691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INITIAL OUTLAY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1965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₹30,000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6974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5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₹20,000 to us + ₹10,000 to Meta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note: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₹10,000 ad spend is not included in the ₹20,000 service fee. Meta may apply taxes on ad spend as per its billing terms.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77316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Compass Travels  ·  Month 1 Plan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8138160" y="47731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-1737360"/>
            <a:ext cx="3840480" cy="38404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GOAL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3152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solid foundation,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real data to decide the next step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5603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up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926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260604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2606040" y="25603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2606040" y="2926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&amp; creatives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663440" y="25603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4663440" y="2926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enquiries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672084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720840" y="25603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6720840" y="2926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continuing or scaling makes sense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3931920"/>
            <a:ext cx="8046720" cy="0"/>
          </a:xfrm>
          <a:prstGeom prst="line">
            <a:avLst/>
          </a:prstGeom>
          <a:noFill/>
          <a:ln w="9525">
            <a:solidFill>
              <a:srgbClr val="3A557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9FB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results depend on audience, offer, creative, competition, budget and customer response. Specific rankings, traffic, leads or sales are not guaranteed.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Royal Compass Travels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Royal Compass Travels — Month 1 Digital Marketing Plan</dc:title>
  <dc:subject>PptxGenJS Presentation</dc:subject>
  <dc:creator>PptxGenJS</dc:creator>
  <cp:lastModifiedBy>PptxGenJS</cp:lastModifiedBy>
  <cp:revision>1</cp:revision>
  <dcterms:created xsi:type="dcterms:W3CDTF">2026-09-29T18:57:19Z</dcterms:created>
  <dcterms:modified xsi:type="dcterms:W3CDTF">2026-09-29T18:57:19Z</dcterms:modified>
</cp:coreProperties>
</file>